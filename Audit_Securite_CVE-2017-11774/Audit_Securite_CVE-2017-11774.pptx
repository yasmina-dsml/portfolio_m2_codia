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Anton" pitchFamily="2" charset="0"/>
      <p:regular r:id="rId10"/>
    </p:embeddedFont>
    <p:embeddedFont>
      <p:font typeface="Hero" panose="020B0604020202020204" charset="0"/>
      <p:regular r:id="rId11"/>
    </p:embeddedFont>
    <p:embeddedFont>
      <p:font typeface="Raleway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4" d="100"/>
          <a:sy n="64" d="100"/>
        </p:scale>
        <p:origin x="162" y="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2.png"/><Relationship Id="rId7" Type="http://schemas.openxmlformats.org/officeDocument/2006/relationships/image" Target="../media/image14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7.jpeg"/><Relationship Id="rId4" Type="http://schemas.openxmlformats.org/officeDocument/2006/relationships/image" Target="../media/image3.svg"/><Relationship Id="rId9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3" name="Freeform 3"/>
          <p:cNvSpPr/>
          <p:nvPr/>
        </p:nvSpPr>
        <p:spPr>
          <a:xfrm>
            <a:off x="6556922" y="9022302"/>
            <a:ext cx="5174156" cy="471997"/>
          </a:xfrm>
          <a:custGeom>
            <a:avLst/>
            <a:gdLst/>
            <a:ahLst/>
            <a:cxnLst/>
            <a:rect l="l" t="t" r="r" b="b"/>
            <a:pathLst>
              <a:path w="5174156" h="471997">
                <a:moveTo>
                  <a:pt x="0" y="0"/>
                </a:moveTo>
                <a:lnTo>
                  <a:pt x="5174156" y="0"/>
                </a:lnTo>
                <a:lnTo>
                  <a:pt x="5174156" y="471996"/>
                </a:lnTo>
                <a:lnTo>
                  <a:pt x="0" y="47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732299" y="415951"/>
            <a:ext cx="296401" cy="333375"/>
          </a:xfrm>
          <a:custGeom>
            <a:avLst/>
            <a:gdLst/>
            <a:ahLst/>
            <a:cxnLst/>
            <a:rect l="l" t="t" r="r" b="b"/>
            <a:pathLst>
              <a:path w="296401" h="333375">
                <a:moveTo>
                  <a:pt x="0" y="0"/>
                </a:moveTo>
                <a:lnTo>
                  <a:pt x="296401" y="0"/>
                </a:lnTo>
                <a:lnTo>
                  <a:pt x="296401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5100442" y="3310333"/>
            <a:ext cx="8456570" cy="192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AUDIT DE SÉCURITÉ – CVE-2017-11774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33309" y="6913298"/>
            <a:ext cx="5620527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FADL YASSINE</a:t>
            </a:r>
          </a:p>
          <a:p>
            <a:pPr algn="ctr">
              <a:lnSpc>
                <a:spcPts val="4319"/>
              </a:lnSpc>
            </a:pPr>
            <a:r>
              <a:rPr lang="en-US" sz="3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FARID YASMINA</a:t>
            </a:r>
          </a:p>
          <a:p>
            <a:pPr algn="ctr">
              <a:lnSpc>
                <a:spcPts val="4319"/>
              </a:lnSpc>
            </a:pPr>
            <a:r>
              <a:rPr lang="en-US" sz="3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DEGBEY SCOTT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0527" y="491466"/>
            <a:ext cx="1748507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M1_SECURITY</a:t>
            </a:r>
          </a:p>
        </p:txBody>
      </p:sp>
      <p:sp>
        <p:nvSpPr>
          <p:cNvPr id="16" name="TextBox 16"/>
          <p:cNvSpPr txBox="1"/>
          <p:nvPr/>
        </p:nvSpPr>
        <p:spPr>
          <a:xfrm rot="5400000">
            <a:off x="17491994" y="9061668"/>
            <a:ext cx="912765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PAGE 01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9691304"/>
            <a:ext cx="669721" cy="595696"/>
            <a:chOff x="0" y="0"/>
            <a:chExt cx="176387" cy="15689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618279" y="9691304"/>
            <a:ext cx="669721" cy="595696"/>
            <a:chOff x="0" y="0"/>
            <a:chExt cx="176387" cy="1568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732299" y="415951"/>
            <a:ext cx="296401" cy="333375"/>
          </a:xfrm>
          <a:custGeom>
            <a:avLst/>
            <a:gdLst/>
            <a:ahLst/>
            <a:cxnLst/>
            <a:rect l="l" t="t" r="r" b="b"/>
            <a:pathLst>
              <a:path w="296401" h="333375">
                <a:moveTo>
                  <a:pt x="0" y="0"/>
                </a:moveTo>
                <a:lnTo>
                  <a:pt x="296401" y="0"/>
                </a:lnTo>
                <a:lnTo>
                  <a:pt x="296401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0" y="9691304"/>
            <a:ext cx="669721" cy="595696"/>
            <a:chOff x="0" y="0"/>
            <a:chExt cx="176387" cy="1568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8279" y="9691304"/>
            <a:ext cx="669721" cy="595696"/>
            <a:chOff x="0" y="0"/>
            <a:chExt cx="176387" cy="1568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20486" y="4767563"/>
            <a:ext cx="7169306" cy="3392413"/>
            <a:chOff x="0" y="0"/>
            <a:chExt cx="1110713" cy="52557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10713" cy="525573"/>
            </a:xfrm>
            <a:custGeom>
              <a:avLst/>
              <a:gdLst/>
              <a:ahLst/>
              <a:cxnLst/>
              <a:rect l="l" t="t" r="r" b="b"/>
              <a:pathLst>
                <a:path w="1110713" h="525573">
                  <a:moveTo>
                    <a:pt x="24837" y="0"/>
                  </a:moveTo>
                  <a:lnTo>
                    <a:pt x="1085876" y="0"/>
                  </a:lnTo>
                  <a:cubicBezTo>
                    <a:pt x="1092463" y="0"/>
                    <a:pt x="1098781" y="2617"/>
                    <a:pt x="1103438" y="7275"/>
                  </a:cubicBezTo>
                  <a:cubicBezTo>
                    <a:pt x="1108096" y="11932"/>
                    <a:pt x="1110713" y="18250"/>
                    <a:pt x="1110713" y="24837"/>
                  </a:cubicBezTo>
                  <a:lnTo>
                    <a:pt x="1110713" y="500736"/>
                  </a:lnTo>
                  <a:cubicBezTo>
                    <a:pt x="1110713" y="507324"/>
                    <a:pt x="1108096" y="513641"/>
                    <a:pt x="1103438" y="518299"/>
                  </a:cubicBezTo>
                  <a:cubicBezTo>
                    <a:pt x="1098781" y="522957"/>
                    <a:pt x="1092463" y="525573"/>
                    <a:pt x="1085876" y="525573"/>
                  </a:cubicBezTo>
                  <a:lnTo>
                    <a:pt x="24837" y="525573"/>
                  </a:lnTo>
                  <a:cubicBezTo>
                    <a:pt x="18250" y="525573"/>
                    <a:pt x="11932" y="522957"/>
                    <a:pt x="7275" y="518299"/>
                  </a:cubicBezTo>
                  <a:cubicBezTo>
                    <a:pt x="2617" y="513641"/>
                    <a:pt x="0" y="507324"/>
                    <a:pt x="0" y="500736"/>
                  </a:cubicBezTo>
                  <a:lnTo>
                    <a:pt x="0" y="24837"/>
                  </a:lnTo>
                  <a:cubicBezTo>
                    <a:pt x="0" y="18250"/>
                    <a:pt x="2617" y="11932"/>
                    <a:pt x="7275" y="7275"/>
                  </a:cubicBezTo>
                  <a:cubicBezTo>
                    <a:pt x="11932" y="2617"/>
                    <a:pt x="18250" y="0"/>
                    <a:pt x="24837" y="0"/>
                  </a:cubicBezTo>
                  <a:close/>
                </a:path>
              </a:pathLst>
            </a:custGeom>
            <a:blipFill>
              <a:blip r:embed="rId5"/>
              <a:stretch>
                <a:fillRect t="-20400" b="-20400"/>
              </a:stretch>
            </a:blipFill>
            <a:ln w="66675" cap="rnd">
              <a:gradFill>
                <a:gsLst>
                  <a:gs pos="0">
                    <a:srgbClr val="092846">
                      <a:alpha val="100000"/>
                    </a:srgbClr>
                  </a:gs>
                  <a:gs pos="100000">
                    <a:srgbClr val="E9E9EA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60527" y="2391365"/>
            <a:ext cx="7089224" cy="598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3"/>
              </a:lnSpc>
            </a:pPr>
            <a:r>
              <a:rPr lang="en-US" sz="42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DESCRIPTION DE LA VULNÉRABILITÉ 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0527" y="3347408"/>
            <a:ext cx="6479400" cy="5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CVE-2017-11774 – OUTLOOK 2016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0527" y="491466"/>
            <a:ext cx="1748507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M1_SECURITY</a:t>
            </a:r>
          </a:p>
        </p:txBody>
      </p:sp>
      <p:sp>
        <p:nvSpPr>
          <p:cNvPr id="22" name="TextBox 22"/>
          <p:cNvSpPr txBox="1"/>
          <p:nvPr/>
        </p:nvSpPr>
        <p:spPr>
          <a:xfrm rot="5400000">
            <a:off x="17491994" y="9061668"/>
            <a:ext cx="912765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PAGE 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74534" y="3118302"/>
            <a:ext cx="7458083" cy="5758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400" lvl="1" indent="-647700" algn="l">
              <a:lnSpc>
                <a:spcPts val="6480"/>
              </a:lnSpc>
              <a:buFont typeface="Arial"/>
              <a:buChar char="•"/>
            </a:pPr>
            <a:r>
              <a:rPr lang="en-US" sz="6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RCE</a:t>
            </a:r>
          </a:p>
          <a:p>
            <a:pPr algn="l">
              <a:lnSpc>
                <a:spcPts val="6480"/>
              </a:lnSpc>
            </a:pPr>
            <a:endParaRPr lang="en-US" sz="6000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1295400" lvl="1" indent="-647700" algn="l">
              <a:lnSpc>
                <a:spcPts val="6480"/>
              </a:lnSpc>
              <a:buFont typeface="Arial"/>
              <a:buChar char="•"/>
            </a:pPr>
            <a:r>
              <a:rPr lang="en-US" sz="600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Contournement</a:t>
            </a:r>
            <a:r>
              <a:rPr lang="en-US" sz="6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sandbox</a:t>
            </a:r>
          </a:p>
          <a:p>
            <a:pPr algn="l">
              <a:lnSpc>
                <a:spcPts val="6480"/>
              </a:lnSpc>
            </a:pPr>
            <a:endParaRPr lang="en-US" sz="6000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1295400" lvl="1" indent="-647700" algn="l">
              <a:lnSpc>
                <a:spcPts val="6480"/>
              </a:lnSpc>
              <a:buFont typeface="Arial"/>
              <a:buChar char="•"/>
            </a:pPr>
            <a:r>
              <a:rPr lang="en-US" sz="6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Execution de code </a:t>
            </a:r>
            <a:r>
              <a:rPr lang="en-US" sz="600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malveillant</a:t>
            </a:r>
            <a:endParaRPr lang="en-US" sz="6000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60527" y="4378900"/>
            <a:ext cx="6479400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6556922" y="9022302"/>
            <a:ext cx="5174156" cy="471997"/>
          </a:xfrm>
          <a:custGeom>
            <a:avLst/>
            <a:gdLst/>
            <a:ahLst/>
            <a:cxnLst/>
            <a:rect l="l" t="t" r="r" b="b"/>
            <a:pathLst>
              <a:path w="5174156" h="471997">
                <a:moveTo>
                  <a:pt x="0" y="0"/>
                </a:moveTo>
                <a:lnTo>
                  <a:pt x="5174156" y="0"/>
                </a:lnTo>
                <a:lnTo>
                  <a:pt x="5174156" y="471996"/>
                </a:lnTo>
                <a:lnTo>
                  <a:pt x="0" y="47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-569033" y="-324349"/>
            <a:ext cx="19795521" cy="1480600"/>
            <a:chOff x="0" y="0"/>
            <a:chExt cx="5213635" cy="3899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13635" cy="389952"/>
            </a:xfrm>
            <a:custGeom>
              <a:avLst/>
              <a:gdLst/>
              <a:ahLst/>
              <a:cxnLst/>
              <a:rect l="l" t="t" r="r" b="b"/>
              <a:pathLst>
                <a:path w="5213635" h="389952">
                  <a:moveTo>
                    <a:pt x="19946" y="0"/>
                  </a:moveTo>
                  <a:lnTo>
                    <a:pt x="5193690" y="0"/>
                  </a:lnTo>
                  <a:cubicBezTo>
                    <a:pt x="5198980" y="0"/>
                    <a:pt x="5204053" y="2101"/>
                    <a:pt x="5207793" y="5842"/>
                  </a:cubicBezTo>
                  <a:cubicBezTo>
                    <a:pt x="5211534" y="9583"/>
                    <a:pt x="5213635" y="14656"/>
                    <a:pt x="5213635" y="19946"/>
                  </a:cubicBezTo>
                  <a:lnTo>
                    <a:pt x="5213635" y="370006"/>
                  </a:lnTo>
                  <a:cubicBezTo>
                    <a:pt x="5213635" y="375296"/>
                    <a:pt x="5211534" y="380370"/>
                    <a:pt x="5207793" y="384110"/>
                  </a:cubicBezTo>
                  <a:cubicBezTo>
                    <a:pt x="5204053" y="387851"/>
                    <a:pt x="5198980" y="389952"/>
                    <a:pt x="5193690" y="389952"/>
                  </a:cubicBezTo>
                  <a:lnTo>
                    <a:pt x="19946" y="389952"/>
                  </a:lnTo>
                  <a:cubicBezTo>
                    <a:pt x="14656" y="389952"/>
                    <a:pt x="9583" y="387851"/>
                    <a:pt x="5842" y="384110"/>
                  </a:cubicBezTo>
                  <a:cubicBezTo>
                    <a:pt x="2101" y="380370"/>
                    <a:pt x="0" y="375296"/>
                    <a:pt x="0" y="370006"/>
                  </a:cubicBezTo>
                  <a:lnTo>
                    <a:pt x="0" y="19946"/>
                  </a:lnTo>
                  <a:cubicBezTo>
                    <a:pt x="0" y="14656"/>
                    <a:pt x="2101" y="9583"/>
                    <a:pt x="5842" y="5842"/>
                  </a:cubicBezTo>
                  <a:cubicBezTo>
                    <a:pt x="9583" y="2101"/>
                    <a:pt x="14656" y="0"/>
                    <a:pt x="199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5213635" cy="380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732299" y="415951"/>
            <a:ext cx="296401" cy="333375"/>
          </a:xfrm>
          <a:custGeom>
            <a:avLst/>
            <a:gdLst/>
            <a:ahLst/>
            <a:cxnLst/>
            <a:rect l="l" t="t" r="r" b="b"/>
            <a:pathLst>
              <a:path w="296401" h="333375">
                <a:moveTo>
                  <a:pt x="0" y="0"/>
                </a:moveTo>
                <a:lnTo>
                  <a:pt x="296401" y="0"/>
                </a:lnTo>
                <a:lnTo>
                  <a:pt x="296401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" name="Group 8"/>
          <p:cNvGrpSpPr/>
          <p:nvPr/>
        </p:nvGrpSpPr>
        <p:grpSpPr>
          <a:xfrm>
            <a:off x="0" y="9691304"/>
            <a:ext cx="669721" cy="595696"/>
            <a:chOff x="0" y="0"/>
            <a:chExt cx="176387" cy="1568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618279" y="9691304"/>
            <a:ext cx="669721" cy="595696"/>
            <a:chOff x="0" y="0"/>
            <a:chExt cx="176387" cy="1568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22877" y="4703623"/>
            <a:ext cx="3420781" cy="3621194"/>
            <a:chOff x="0" y="0"/>
            <a:chExt cx="569951" cy="6033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9951" cy="603342"/>
            </a:xfrm>
            <a:custGeom>
              <a:avLst/>
              <a:gdLst/>
              <a:ahLst/>
              <a:cxnLst/>
              <a:rect l="l" t="t" r="r" b="b"/>
              <a:pathLst>
                <a:path w="569951" h="603342">
                  <a:moveTo>
                    <a:pt x="52054" y="0"/>
                  </a:moveTo>
                  <a:lnTo>
                    <a:pt x="517897" y="0"/>
                  </a:lnTo>
                  <a:cubicBezTo>
                    <a:pt x="531703" y="0"/>
                    <a:pt x="544943" y="5484"/>
                    <a:pt x="554705" y="15246"/>
                  </a:cubicBezTo>
                  <a:cubicBezTo>
                    <a:pt x="564467" y="25008"/>
                    <a:pt x="569951" y="38248"/>
                    <a:pt x="569951" y="52054"/>
                  </a:cubicBezTo>
                  <a:lnTo>
                    <a:pt x="569951" y="551289"/>
                  </a:lnTo>
                  <a:cubicBezTo>
                    <a:pt x="569951" y="580037"/>
                    <a:pt x="546646" y="603342"/>
                    <a:pt x="517897" y="603342"/>
                  </a:cubicBezTo>
                  <a:lnTo>
                    <a:pt x="52054" y="603342"/>
                  </a:lnTo>
                  <a:cubicBezTo>
                    <a:pt x="23305" y="603342"/>
                    <a:pt x="0" y="580037"/>
                    <a:pt x="0" y="551289"/>
                  </a:cubicBezTo>
                  <a:lnTo>
                    <a:pt x="0" y="52054"/>
                  </a:lnTo>
                  <a:cubicBezTo>
                    <a:pt x="0" y="23305"/>
                    <a:pt x="23305" y="0"/>
                    <a:pt x="52054" y="0"/>
                  </a:cubicBezTo>
                  <a:close/>
                </a:path>
              </a:pathLst>
            </a:custGeom>
            <a:blipFill>
              <a:blip r:embed="rId7"/>
              <a:stretch>
                <a:fillRect l="-29369" r="-29369"/>
              </a:stretch>
            </a:blipFill>
            <a:ln w="66675" cap="rnd">
              <a:gradFill>
                <a:gsLst>
                  <a:gs pos="0">
                    <a:srgbClr val="092846">
                      <a:alpha val="100000"/>
                    </a:srgbClr>
                  </a:gs>
                  <a:gs pos="100000">
                    <a:srgbClr val="E9E9EA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4426669"/>
            <a:ext cx="1064126" cy="946507"/>
            <a:chOff x="0" y="0"/>
            <a:chExt cx="301407" cy="2680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1407" cy="268093"/>
            </a:xfrm>
            <a:custGeom>
              <a:avLst/>
              <a:gdLst/>
              <a:ahLst/>
              <a:cxnLst/>
              <a:rect l="l" t="t" r="r" b="b"/>
              <a:pathLst>
                <a:path w="301407" h="268093">
                  <a:moveTo>
                    <a:pt x="0" y="0"/>
                  </a:moveTo>
                  <a:lnTo>
                    <a:pt x="301407" y="0"/>
                  </a:lnTo>
                  <a:lnTo>
                    <a:pt x="301407" y="268093"/>
                  </a:lnTo>
                  <a:lnTo>
                    <a:pt x="0" y="268093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100000"/>
                  </a:srgbClr>
                </a:gs>
                <a:gs pos="100000">
                  <a:srgbClr val="E9E9EA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301407" cy="258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22904" y="4703623"/>
            <a:ext cx="3420781" cy="3621194"/>
            <a:chOff x="0" y="0"/>
            <a:chExt cx="569951" cy="6033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69951" cy="603342"/>
            </a:xfrm>
            <a:custGeom>
              <a:avLst/>
              <a:gdLst/>
              <a:ahLst/>
              <a:cxnLst/>
              <a:rect l="l" t="t" r="r" b="b"/>
              <a:pathLst>
                <a:path w="569951" h="603342">
                  <a:moveTo>
                    <a:pt x="52054" y="0"/>
                  </a:moveTo>
                  <a:lnTo>
                    <a:pt x="517897" y="0"/>
                  </a:lnTo>
                  <a:cubicBezTo>
                    <a:pt x="531703" y="0"/>
                    <a:pt x="544943" y="5484"/>
                    <a:pt x="554705" y="15246"/>
                  </a:cubicBezTo>
                  <a:cubicBezTo>
                    <a:pt x="564467" y="25008"/>
                    <a:pt x="569951" y="38248"/>
                    <a:pt x="569951" y="52054"/>
                  </a:cubicBezTo>
                  <a:lnTo>
                    <a:pt x="569951" y="551289"/>
                  </a:lnTo>
                  <a:cubicBezTo>
                    <a:pt x="569951" y="580037"/>
                    <a:pt x="546646" y="603342"/>
                    <a:pt x="517897" y="603342"/>
                  </a:cubicBezTo>
                  <a:lnTo>
                    <a:pt x="52054" y="603342"/>
                  </a:lnTo>
                  <a:cubicBezTo>
                    <a:pt x="23305" y="603342"/>
                    <a:pt x="0" y="580037"/>
                    <a:pt x="0" y="551289"/>
                  </a:cubicBezTo>
                  <a:lnTo>
                    <a:pt x="0" y="52054"/>
                  </a:lnTo>
                  <a:cubicBezTo>
                    <a:pt x="0" y="23305"/>
                    <a:pt x="23305" y="0"/>
                    <a:pt x="52054" y="0"/>
                  </a:cubicBezTo>
                  <a:close/>
                </a:path>
              </a:pathLst>
            </a:custGeom>
            <a:blipFill>
              <a:blip r:embed="rId8"/>
              <a:stretch>
                <a:fillRect l="-2929" r="-2929"/>
              </a:stretch>
            </a:blipFill>
            <a:ln w="66675" cap="rnd">
              <a:gradFill>
                <a:gsLst>
                  <a:gs pos="0">
                    <a:srgbClr val="092846">
                      <a:alpha val="100000"/>
                    </a:srgbClr>
                  </a:gs>
                  <a:gs pos="100000">
                    <a:srgbClr val="E9E9EA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28727" y="4426669"/>
            <a:ext cx="1064126" cy="946507"/>
            <a:chOff x="0" y="0"/>
            <a:chExt cx="301407" cy="26809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1407" cy="268093"/>
            </a:xfrm>
            <a:custGeom>
              <a:avLst/>
              <a:gdLst/>
              <a:ahLst/>
              <a:cxnLst/>
              <a:rect l="l" t="t" r="r" b="b"/>
              <a:pathLst>
                <a:path w="301407" h="268093">
                  <a:moveTo>
                    <a:pt x="0" y="0"/>
                  </a:moveTo>
                  <a:lnTo>
                    <a:pt x="301407" y="0"/>
                  </a:lnTo>
                  <a:lnTo>
                    <a:pt x="301407" y="268093"/>
                  </a:lnTo>
                  <a:lnTo>
                    <a:pt x="0" y="268093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100000"/>
                  </a:srgbClr>
                </a:gs>
                <a:gs pos="100000">
                  <a:srgbClr val="E9E9EA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301407" cy="258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222083" y="1859194"/>
            <a:ext cx="4213288" cy="98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22"/>
              </a:lnSpc>
            </a:pPr>
            <a:r>
              <a:rPr lang="en-US" sz="705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IMPACT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89027" y="2815237"/>
            <a:ext cx="6479400" cy="98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22"/>
              </a:lnSpc>
            </a:pPr>
            <a:r>
              <a:rPr lang="en-US" sz="705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POUR GAMMA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60527" y="491466"/>
            <a:ext cx="1748507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M1_SECURITY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509443" y="491466"/>
            <a:ext cx="716120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66565" y="491466"/>
            <a:ext cx="1478120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 US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978060" y="491466"/>
            <a:ext cx="1478120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SERVIVCES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047751" y="491466"/>
            <a:ext cx="1478120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PHOTOS</a:t>
            </a:r>
          </a:p>
        </p:txBody>
      </p:sp>
      <p:sp>
        <p:nvSpPr>
          <p:cNvPr id="31" name="TextBox 31"/>
          <p:cNvSpPr txBox="1"/>
          <p:nvPr/>
        </p:nvSpPr>
        <p:spPr>
          <a:xfrm rot="5400000">
            <a:off x="17491994" y="9061668"/>
            <a:ext cx="912765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PAGE 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23071" y="4688244"/>
            <a:ext cx="475384" cy="46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4"/>
              </a:lnSpc>
            </a:pPr>
            <a:r>
              <a:rPr lang="en-US" sz="328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76192" y="5812280"/>
            <a:ext cx="4879247" cy="554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2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Poste </a:t>
            </a:r>
            <a:r>
              <a:rPr lang="en-US" sz="200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utilisateur</a:t>
            </a:r>
            <a:r>
              <a:rPr lang="en-US" sz="2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 </a:t>
            </a:r>
            <a:r>
              <a:rPr lang="en-US" sz="200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Serveur</a:t>
            </a:r>
            <a:r>
              <a:rPr lang="en-US" sz="2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pubnfs</a:t>
            </a:r>
            <a:r>
              <a:rPr lang="en-US" sz="2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→ 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Base SQL/MongoDB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23098" y="4688244"/>
            <a:ext cx="475384" cy="46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4"/>
              </a:lnSpc>
            </a:pPr>
            <a:r>
              <a:rPr lang="en-US" sz="328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555468" y="5270449"/>
            <a:ext cx="3703832" cy="3206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8821" lvl="1" indent="-249411" algn="l">
              <a:lnSpc>
                <a:spcPts val="2495"/>
              </a:lnSpc>
              <a:buFont typeface="Arial"/>
              <a:buChar char="•"/>
            </a:pPr>
            <a:r>
              <a:rPr lang="en-US" sz="231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Prise</a:t>
            </a:r>
            <a:r>
              <a:rPr lang="en-US" sz="231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de </a:t>
            </a:r>
            <a:r>
              <a:rPr lang="en-US" sz="231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contrôle</a:t>
            </a:r>
            <a:r>
              <a:rPr lang="en-US" sz="231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des machines.</a:t>
            </a:r>
          </a:p>
          <a:p>
            <a:pPr algn="l">
              <a:lnSpc>
                <a:spcPts val="2495"/>
              </a:lnSpc>
            </a:pPr>
            <a:endParaRPr lang="en-US" sz="2310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98821" lvl="1" indent="-249411" algn="l">
              <a:lnSpc>
                <a:spcPts val="2495"/>
              </a:lnSpc>
              <a:buFont typeface="Arial"/>
              <a:buChar char="•"/>
            </a:pPr>
            <a:r>
              <a:rPr lang="en-US" sz="231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Vol </a:t>
            </a:r>
            <a:r>
              <a:rPr lang="en-US" sz="2310" dirty="0" err="1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ou</a:t>
            </a:r>
            <a:r>
              <a:rPr lang="en-US" sz="231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corruption de données.</a:t>
            </a:r>
          </a:p>
          <a:p>
            <a:pPr algn="l">
              <a:lnSpc>
                <a:spcPts val="2495"/>
              </a:lnSpc>
            </a:pPr>
            <a:endParaRPr lang="en-US" sz="2310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algn="l">
              <a:lnSpc>
                <a:spcPts val="2495"/>
              </a:lnSpc>
            </a:pPr>
            <a:endParaRPr lang="en-US" sz="2310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98821" lvl="1" indent="-249411" algn="l">
              <a:lnSpc>
                <a:spcPts val="2495"/>
              </a:lnSpc>
              <a:buFont typeface="Arial"/>
              <a:buChar char="•"/>
            </a:pPr>
            <a:r>
              <a:rPr lang="en-US" sz="231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Perturbation des services.</a:t>
            </a:r>
          </a:p>
          <a:p>
            <a:pPr algn="l">
              <a:lnSpc>
                <a:spcPts val="2495"/>
              </a:lnSpc>
            </a:pPr>
            <a:endParaRPr lang="en-US" sz="2310" dirty="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6556922" y="9022302"/>
            <a:ext cx="5174156" cy="471997"/>
          </a:xfrm>
          <a:custGeom>
            <a:avLst/>
            <a:gdLst/>
            <a:ahLst/>
            <a:cxnLst/>
            <a:rect l="l" t="t" r="r" b="b"/>
            <a:pathLst>
              <a:path w="5174156" h="471997">
                <a:moveTo>
                  <a:pt x="0" y="0"/>
                </a:moveTo>
                <a:lnTo>
                  <a:pt x="5174156" y="0"/>
                </a:lnTo>
                <a:lnTo>
                  <a:pt x="5174156" y="471996"/>
                </a:lnTo>
                <a:lnTo>
                  <a:pt x="0" y="47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-569033" y="-415735"/>
            <a:ext cx="19795521" cy="144443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47"/>
              </a:lnSpc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732299" y="415951"/>
            <a:ext cx="296401" cy="333375"/>
          </a:xfrm>
          <a:custGeom>
            <a:avLst/>
            <a:gdLst/>
            <a:ahLst/>
            <a:cxnLst/>
            <a:rect l="l" t="t" r="r" b="b"/>
            <a:pathLst>
              <a:path w="296401" h="333375">
                <a:moveTo>
                  <a:pt x="0" y="0"/>
                </a:moveTo>
                <a:lnTo>
                  <a:pt x="296401" y="0"/>
                </a:lnTo>
                <a:lnTo>
                  <a:pt x="296401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" name="Group 8"/>
          <p:cNvGrpSpPr/>
          <p:nvPr/>
        </p:nvGrpSpPr>
        <p:grpSpPr>
          <a:xfrm>
            <a:off x="0" y="9691304"/>
            <a:ext cx="669721" cy="595696"/>
            <a:chOff x="0" y="0"/>
            <a:chExt cx="176387" cy="1568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618279" y="9691304"/>
            <a:ext cx="669721" cy="595696"/>
            <a:chOff x="0" y="0"/>
            <a:chExt cx="176387" cy="1568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852441" y="2007671"/>
            <a:ext cx="6271658" cy="6271658"/>
            <a:chOff x="0" y="0"/>
            <a:chExt cx="14840029" cy="14840029"/>
          </a:xfrm>
        </p:grpSpPr>
        <p:sp>
          <p:nvSpPr>
            <p:cNvPr id="15" name="Freeform 15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100000"/>
                  </a:srgbClr>
                </a:gs>
                <a:gs pos="100000">
                  <a:srgbClr val="E9E9EA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7"/>
              <a:stretch>
                <a:fillRect l="-38492" r="-3849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118185" y="3898407"/>
            <a:ext cx="5759373" cy="4809683"/>
          </a:xfrm>
          <a:custGeom>
            <a:avLst/>
            <a:gdLst/>
            <a:ahLst/>
            <a:cxnLst/>
            <a:rect l="l" t="t" r="r" b="b"/>
            <a:pathLst>
              <a:path w="3798534" h="3543099">
                <a:moveTo>
                  <a:pt x="0" y="0"/>
                </a:moveTo>
                <a:lnTo>
                  <a:pt x="3798534" y="0"/>
                </a:lnTo>
                <a:lnTo>
                  <a:pt x="3798534" y="3543099"/>
                </a:lnTo>
                <a:lnTo>
                  <a:pt x="0" y="35430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604" b="-360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9002801" y="2263472"/>
            <a:ext cx="571432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SCÉNARIO D’ATTAQUE 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59672" y="3219515"/>
            <a:ext cx="8892770" cy="5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KILL CHAIN – EXPLOITATION DE CVE-2017-11774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0527" y="491466"/>
            <a:ext cx="1748507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M1_SECURITY</a:t>
            </a:r>
          </a:p>
        </p:txBody>
      </p:sp>
      <p:sp>
        <p:nvSpPr>
          <p:cNvPr id="26" name="TextBox 26"/>
          <p:cNvSpPr txBox="1"/>
          <p:nvPr/>
        </p:nvSpPr>
        <p:spPr>
          <a:xfrm rot="5400000">
            <a:off x="17491994" y="9061668"/>
            <a:ext cx="912765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PAGE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3323B-77E3-63BB-E7CB-9BC0A28F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DCB87D8-2210-3A95-4F93-57F7AB0E842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C09C3C5-CAD6-6621-FDA6-32A9C6BC6DED}"/>
              </a:ext>
            </a:extLst>
          </p:cNvPr>
          <p:cNvSpPr/>
          <p:nvPr/>
        </p:nvSpPr>
        <p:spPr>
          <a:xfrm>
            <a:off x="6556922" y="9022302"/>
            <a:ext cx="5174156" cy="471997"/>
          </a:xfrm>
          <a:custGeom>
            <a:avLst/>
            <a:gdLst/>
            <a:ahLst/>
            <a:cxnLst/>
            <a:rect l="l" t="t" r="r" b="b"/>
            <a:pathLst>
              <a:path w="5174156" h="471997">
                <a:moveTo>
                  <a:pt x="0" y="0"/>
                </a:moveTo>
                <a:lnTo>
                  <a:pt x="5174156" y="0"/>
                </a:lnTo>
                <a:lnTo>
                  <a:pt x="5174156" y="471996"/>
                </a:lnTo>
                <a:lnTo>
                  <a:pt x="0" y="47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624F25B-EF97-5F56-86BD-26177ECA57BB}"/>
              </a:ext>
            </a:extLst>
          </p:cNvPr>
          <p:cNvSpPr txBox="1"/>
          <p:nvPr/>
        </p:nvSpPr>
        <p:spPr>
          <a:xfrm>
            <a:off x="-569033" y="-415735"/>
            <a:ext cx="19795521" cy="144443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447"/>
              </a:lnSpc>
            </a:pPr>
            <a:endParaRPr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BE6B77E-7386-E35C-35F2-0C369063B48E}"/>
              </a:ext>
            </a:extLst>
          </p:cNvPr>
          <p:cNvSpPr/>
          <p:nvPr/>
        </p:nvSpPr>
        <p:spPr>
          <a:xfrm>
            <a:off x="732299" y="415951"/>
            <a:ext cx="296401" cy="333375"/>
          </a:xfrm>
          <a:custGeom>
            <a:avLst/>
            <a:gdLst/>
            <a:ahLst/>
            <a:cxnLst/>
            <a:rect l="l" t="t" r="r" b="b"/>
            <a:pathLst>
              <a:path w="296401" h="333375">
                <a:moveTo>
                  <a:pt x="0" y="0"/>
                </a:moveTo>
                <a:lnTo>
                  <a:pt x="296401" y="0"/>
                </a:lnTo>
                <a:lnTo>
                  <a:pt x="296401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94B5532F-A28B-767B-1E8E-0D2A40A56FC6}"/>
              </a:ext>
            </a:extLst>
          </p:cNvPr>
          <p:cNvGrpSpPr/>
          <p:nvPr/>
        </p:nvGrpSpPr>
        <p:grpSpPr>
          <a:xfrm>
            <a:off x="0" y="9691304"/>
            <a:ext cx="669721" cy="595696"/>
            <a:chOff x="0" y="0"/>
            <a:chExt cx="176387" cy="15689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99ADCA3-6043-D4ED-AF3A-9D7E05783328}"/>
                </a:ext>
              </a:extLst>
            </p:cNvPr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69F8DFF-0995-9915-FE5F-FC9E5D6EC6FD}"/>
                </a:ext>
              </a:extLst>
            </p:cNvPr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3DE81D9-EC38-D3F6-E8F1-E47E5DC47B10}"/>
              </a:ext>
            </a:extLst>
          </p:cNvPr>
          <p:cNvGrpSpPr/>
          <p:nvPr/>
        </p:nvGrpSpPr>
        <p:grpSpPr>
          <a:xfrm>
            <a:off x="17618279" y="9691304"/>
            <a:ext cx="669721" cy="595696"/>
            <a:chOff x="0" y="0"/>
            <a:chExt cx="176387" cy="15689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E67A940-E31B-4BD0-753A-096E44B1CF35}"/>
                </a:ext>
              </a:extLst>
            </p:cNvPr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F5347A0-6AAC-D442-8F17-59658FB77AE2}"/>
                </a:ext>
              </a:extLst>
            </p:cNvPr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FA21F39E-7301-55D0-BF7A-B0139ACC0215}"/>
              </a:ext>
            </a:extLst>
          </p:cNvPr>
          <p:cNvSpPr txBox="1"/>
          <p:nvPr/>
        </p:nvSpPr>
        <p:spPr>
          <a:xfrm>
            <a:off x="9002801" y="2263472"/>
            <a:ext cx="571432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SCÉNARIO D’ATTAQUE :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18A459D-0CEC-1946-A145-E6C52F1BC0E4}"/>
              </a:ext>
            </a:extLst>
          </p:cNvPr>
          <p:cNvSpPr txBox="1"/>
          <p:nvPr/>
        </p:nvSpPr>
        <p:spPr>
          <a:xfrm>
            <a:off x="8959672" y="3219515"/>
            <a:ext cx="8892770" cy="5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999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KILL CHAIN – EXPLOITATION DE CVE-2017-11774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F344F48-6C80-D24D-D737-E340D8700CF5}"/>
              </a:ext>
            </a:extLst>
          </p:cNvPr>
          <p:cNvSpPr txBox="1"/>
          <p:nvPr/>
        </p:nvSpPr>
        <p:spPr>
          <a:xfrm>
            <a:off x="1360527" y="491466"/>
            <a:ext cx="1748507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M1_SECURITY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2FF7283-5814-A4FE-9E54-D2FB09FECDE0}"/>
              </a:ext>
            </a:extLst>
          </p:cNvPr>
          <p:cNvSpPr txBox="1"/>
          <p:nvPr/>
        </p:nvSpPr>
        <p:spPr>
          <a:xfrm rot="5400000">
            <a:off x="17491994" y="9061668"/>
            <a:ext cx="912765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PAGE 04</a:t>
            </a:r>
          </a:p>
        </p:txBody>
      </p:sp>
      <p:pic>
        <p:nvPicPr>
          <p:cNvPr id="1028" name="Picture 4" descr="Cyber">
            <a:extLst>
              <a:ext uri="{FF2B5EF4-FFF2-40B4-BE49-F238E27FC236}">
                <a16:creationId xmlns:a16="http://schemas.microsoft.com/office/drawing/2014/main" id="{0271A871-ED85-DF3F-56C6-6AEA72F7E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00" y="1038069"/>
            <a:ext cx="7934384" cy="9248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5">
            <a:extLst>
              <a:ext uri="{FF2B5EF4-FFF2-40B4-BE49-F238E27FC236}">
                <a16:creationId xmlns:a16="http://schemas.microsoft.com/office/drawing/2014/main" id="{3A1D466D-B33D-9DC3-9EAD-8A8BC717F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9132" y="4360025"/>
            <a:ext cx="9094164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L’attaquant analyse le site web de Gamma pour trouver des vulnérabilités et identifie des employés clés sur LinkedIn.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Il prépare un fichier ou un lien malveillant exploitant la faille CVE-2017-11774.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 e-mail de phishing est envoyé, imitant un expéditeur de confiance. La victime ouvre le fichier ou clique sur le lien.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 malware s’exécute dès que l’e-mail est ouvert, exploitant la faille pour pénétrer le système.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Une backdoor est installée pour garantir un accès permanent.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 malware communique avec un serveur contrôlé par l’attaquant pour exfiltrer des données et transmettre des instructions.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L’attaquant cible les bases de données internes, volant ou détruisant des informations sensibles.</a:t>
            </a:r>
          </a:p>
        </p:txBody>
      </p:sp>
    </p:spTree>
    <p:extLst>
      <p:ext uri="{BB962C8B-B14F-4D97-AF65-F5344CB8AC3E}">
        <p14:creationId xmlns:p14="http://schemas.microsoft.com/office/powerpoint/2010/main" val="1296268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6556922" y="9022302"/>
            <a:ext cx="5174156" cy="471997"/>
          </a:xfrm>
          <a:custGeom>
            <a:avLst/>
            <a:gdLst/>
            <a:ahLst/>
            <a:cxnLst/>
            <a:rect l="l" t="t" r="r" b="b"/>
            <a:pathLst>
              <a:path w="5174156" h="471997">
                <a:moveTo>
                  <a:pt x="0" y="0"/>
                </a:moveTo>
                <a:lnTo>
                  <a:pt x="5174156" y="0"/>
                </a:lnTo>
                <a:lnTo>
                  <a:pt x="5174156" y="471996"/>
                </a:lnTo>
                <a:lnTo>
                  <a:pt x="0" y="47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732299" y="415951"/>
            <a:ext cx="296401" cy="333375"/>
          </a:xfrm>
          <a:custGeom>
            <a:avLst/>
            <a:gdLst/>
            <a:ahLst/>
            <a:cxnLst/>
            <a:rect l="l" t="t" r="r" b="b"/>
            <a:pathLst>
              <a:path w="296401" h="333375">
                <a:moveTo>
                  <a:pt x="0" y="0"/>
                </a:moveTo>
                <a:lnTo>
                  <a:pt x="296401" y="0"/>
                </a:lnTo>
                <a:lnTo>
                  <a:pt x="296401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" name="Group 8"/>
          <p:cNvGrpSpPr/>
          <p:nvPr/>
        </p:nvGrpSpPr>
        <p:grpSpPr>
          <a:xfrm>
            <a:off x="0" y="9691304"/>
            <a:ext cx="669721" cy="595696"/>
            <a:chOff x="0" y="0"/>
            <a:chExt cx="176387" cy="1568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618279" y="9691304"/>
            <a:ext cx="669721" cy="595696"/>
            <a:chOff x="0" y="0"/>
            <a:chExt cx="176387" cy="1568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509443" y="2165198"/>
            <a:ext cx="5823846" cy="5720606"/>
            <a:chOff x="0" y="0"/>
            <a:chExt cx="569951" cy="5598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69951" cy="559847"/>
            </a:xfrm>
            <a:custGeom>
              <a:avLst/>
              <a:gdLst/>
              <a:ahLst/>
              <a:cxnLst/>
              <a:rect l="l" t="t" r="r" b="b"/>
              <a:pathLst>
                <a:path w="569951" h="559847">
                  <a:moveTo>
                    <a:pt x="30575" y="0"/>
                  </a:moveTo>
                  <a:lnTo>
                    <a:pt x="539376" y="0"/>
                  </a:lnTo>
                  <a:cubicBezTo>
                    <a:pt x="547485" y="0"/>
                    <a:pt x="555262" y="3221"/>
                    <a:pt x="560996" y="8955"/>
                  </a:cubicBezTo>
                  <a:cubicBezTo>
                    <a:pt x="566729" y="14689"/>
                    <a:pt x="569951" y="22466"/>
                    <a:pt x="569951" y="30575"/>
                  </a:cubicBezTo>
                  <a:lnTo>
                    <a:pt x="569951" y="529272"/>
                  </a:lnTo>
                  <a:cubicBezTo>
                    <a:pt x="569951" y="546158"/>
                    <a:pt x="556262" y="559847"/>
                    <a:pt x="539376" y="559847"/>
                  </a:cubicBezTo>
                  <a:lnTo>
                    <a:pt x="30575" y="559847"/>
                  </a:lnTo>
                  <a:cubicBezTo>
                    <a:pt x="13689" y="559847"/>
                    <a:pt x="0" y="546158"/>
                    <a:pt x="0" y="529272"/>
                  </a:cubicBezTo>
                  <a:lnTo>
                    <a:pt x="0" y="30575"/>
                  </a:lnTo>
                  <a:cubicBezTo>
                    <a:pt x="0" y="13689"/>
                    <a:pt x="13689" y="0"/>
                    <a:pt x="30575" y="0"/>
                  </a:cubicBezTo>
                  <a:close/>
                </a:path>
              </a:pathLst>
            </a:custGeom>
            <a:blipFill>
              <a:blip r:embed="rId7"/>
              <a:stretch>
                <a:fillRect l="-23647" r="-23647"/>
              </a:stretch>
            </a:blipFill>
            <a:ln w="95250" cap="rnd">
              <a:gradFill>
                <a:gsLst>
                  <a:gs pos="0">
                    <a:srgbClr val="092846">
                      <a:alpha val="100000"/>
                    </a:srgbClr>
                  </a:gs>
                  <a:gs pos="100000">
                    <a:srgbClr val="E9E9EA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722685" y="7269847"/>
            <a:ext cx="1064126" cy="946507"/>
            <a:chOff x="0" y="0"/>
            <a:chExt cx="301407" cy="2680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1407" cy="268093"/>
            </a:xfrm>
            <a:custGeom>
              <a:avLst/>
              <a:gdLst/>
              <a:ahLst/>
              <a:cxnLst/>
              <a:rect l="l" t="t" r="r" b="b"/>
              <a:pathLst>
                <a:path w="301407" h="268093">
                  <a:moveTo>
                    <a:pt x="0" y="0"/>
                  </a:moveTo>
                  <a:lnTo>
                    <a:pt x="301407" y="0"/>
                  </a:lnTo>
                  <a:lnTo>
                    <a:pt x="301407" y="268093"/>
                  </a:lnTo>
                  <a:lnTo>
                    <a:pt x="0" y="268093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100000"/>
                  </a:srgbClr>
                </a:gs>
                <a:gs pos="100000">
                  <a:srgbClr val="E9E9EA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301407" cy="258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7345246" y="4103597"/>
            <a:ext cx="2993752" cy="2993752"/>
          </a:xfrm>
          <a:custGeom>
            <a:avLst/>
            <a:gdLst/>
            <a:ahLst/>
            <a:cxnLst/>
            <a:rect l="l" t="t" r="r" b="b"/>
            <a:pathLst>
              <a:path w="2993752" h="2993752">
                <a:moveTo>
                  <a:pt x="0" y="0"/>
                </a:moveTo>
                <a:lnTo>
                  <a:pt x="2993752" y="0"/>
                </a:lnTo>
                <a:lnTo>
                  <a:pt x="2993752" y="2993752"/>
                </a:lnTo>
                <a:lnTo>
                  <a:pt x="0" y="29937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0" name="TextBox 20"/>
          <p:cNvSpPr txBox="1"/>
          <p:nvPr/>
        </p:nvSpPr>
        <p:spPr>
          <a:xfrm>
            <a:off x="2120220" y="2263472"/>
            <a:ext cx="5815564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0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PROPOSITIONS DE Mitigation 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60527" y="491466"/>
            <a:ext cx="1748507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M1_SECURITY</a:t>
            </a:r>
          </a:p>
        </p:txBody>
      </p:sp>
      <p:sp>
        <p:nvSpPr>
          <p:cNvPr id="26" name="TextBox 26"/>
          <p:cNvSpPr txBox="1"/>
          <p:nvPr/>
        </p:nvSpPr>
        <p:spPr>
          <a:xfrm rot="5400000">
            <a:off x="17491994" y="9061668"/>
            <a:ext cx="912765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PAGE 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20220" y="4501780"/>
            <a:ext cx="7458083" cy="2216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8821" lvl="1" indent="-249411" algn="l">
              <a:lnSpc>
                <a:spcPts val="2495"/>
              </a:lnSpc>
              <a:buFont typeface="Arial"/>
              <a:buChar char="•"/>
            </a:pPr>
            <a:r>
              <a:rPr lang="en-US" sz="231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Mise à jour Outlook</a:t>
            </a:r>
          </a:p>
          <a:p>
            <a:pPr algn="l">
              <a:lnSpc>
                <a:spcPts val="2495"/>
              </a:lnSpc>
            </a:pPr>
            <a:endParaRPr lang="en-US" sz="231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98821" lvl="1" indent="-249411" algn="l">
              <a:lnSpc>
                <a:spcPts val="2495"/>
              </a:lnSpc>
              <a:buFont typeface="Arial"/>
              <a:buChar char="•"/>
            </a:pPr>
            <a:r>
              <a:rPr lang="en-US" sz="231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Filtrage emails</a:t>
            </a:r>
          </a:p>
          <a:p>
            <a:pPr algn="l">
              <a:lnSpc>
                <a:spcPts val="2495"/>
              </a:lnSpc>
            </a:pPr>
            <a:endParaRPr lang="en-US" sz="231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98821" lvl="1" indent="-249411" algn="l">
              <a:lnSpc>
                <a:spcPts val="2495"/>
              </a:lnSpc>
              <a:buFont typeface="Arial"/>
              <a:buChar char="•"/>
            </a:pPr>
            <a:r>
              <a:rPr lang="en-US" sz="231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Sensibilisation utilisateurs</a:t>
            </a:r>
          </a:p>
          <a:p>
            <a:pPr algn="l">
              <a:lnSpc>
                <a:spcPts val="2495"/>
              </a:lnSpc>
            </a:pPr>
            <a:endParaRPr lang="en-US" sz="231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498821" lvl="1" indent="-249411" algn="l">
              <a:lnSpc>
                <a:spcPts val="2495"/>
              </a:lnSpc>
              <a:buFont typeface="Arial"/>
              <a:buChar char="•"/>
            </a:pPr>
            <a:r>
              <a:rPr lang="en-US" sz="231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Surveillance réseau (SIEM)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6556922" y="9022302"/>
            <a:ext cx="5174156" cy="471997"/>
          </a:xfrm>
          <a:custGeom>
            <a:avLst/>
            <a:gdLst/>
            <a:ahLst/>
            <a:cxnLst/>
            <a:rect l="l" t="t" r="r" b="b"/>
            <a:pathLst>
              <a:path w="5174156" h="471997">
                <a:moveTo>
                  <a:pt x="0" y="0"/>
                </a:moveTo>
                <a:lnTo>
                  <a:pt x="5174156" y="0"/>
                </a:lnTo>
                <a:lnTo>
                  <a:pt x="5174156" y="471996"/>
                </a:lnTo>
                <a:lnTo>
                  <a:pt x="0" y="47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4" name="Group 4"/>
          <p:cNvGrpSpPr/>
          <p:nvPr/>
        </p:nvGrpSpPr>
        <p:grpSpPr>
          <a:xfrm>
            <a:off x="-569033" y="-451900"/>
            <a:ext cx="19795521" cy="1480600"/>
            <a:chOff x="0" y="0"/>
            <a:chExt cx="5213635" cy="3899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13635" cy="389952"/>
            </a:xfrm>
            <a:custGeom>
              <a:avLst/>
              <a:gdLst/>
              <a:ahLst/>
              <a:cxnLst/>
              <a:rect l="l" t="t" r="r" b="b"/>
              <a:pathLst>
                <a:path w="5213635" h="389952">
                  <a:moveTo>
                    <a:pt x="19946" y="0"/>
                  </a:moveTo>
                  <a:lnTo>
                    <a:pt x="5193690" y="0"/>
                  </a:lnTo>
                  <a:cubicBezTo>
                    <a:pt x="5198980" y="0"/>
                    <a:pt x="5204053" y="2101"/>
                    <a:pt x="5207793" y="5842"/>
                  </a:cubicBezTo>
                  <a:cubicBezTo>
                    <a:pt x="5211534" y="9583"/>
                    <a:pt x="5213635" y="14656"/>
                    <a:pt x="5213635" y="19946"/>
                  </a:cubicBezTo>
                  <a:lnTo>
                    <a:pt x="5213635" y="370006"/>
                  </a:lnTo>
                  <a:cubicBezTo>
                    <a:pt x="5213635" y="375296"/>
                    <a:pt x="5211534" y="380370"/>
                    <a:pt x="5207793" y="384110"/>
                  </a:cubicBezTo>
                  <a:cubicBezTo>
                    <a:pt x="5204053" y="387851"/>
                    <a:pt x="5198980" y="389952"/>
                    <a:pt x="5193690" y="389952"/>
                  </a:cubicBezTo>
                  <a:lnTo>
                    <a:pt x="19946" y="389952"/>
                  </a:lnTo>
                  <a:cubicBezTo>
                    <a:pt x="14656" y="389952"/>
                    <a:pt x="9583" y="387851"/>
                    <a:pt x="5842" y="384110"/>
                  </a:cubicBezTo>
                  <a:cubicBezTo>
                    <a:pt x="2101" y="380370"/>
                    <a:pt x="0" y="375296"/>
                    <a:pt x="0" y="370006"/>
                  </a:cubicBezTo>
                  <a:lnTo>
                    <a:pt x="0" y="19946"/>
                  </a:lnTo>
                  <a:cubicBezTo>
                    <a:pt x="0" y="14656"/>
                    <a:pt x="2101" y="9583"/>
                    <a:pt x="5842" y="5842"/>
                  </a:cubicBezTo>
                  <a:cubicBezTo>
                    <a:pt x="9583" y="2101"/>
                    <a:pt x="14656" y="0"/>
                    <a:pt x="199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5213635" cy="380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732299" y="415951"/>
            <a:ext cx="296401" cy="333375"/>
          </a:xfrm>
          <a:custGeom>
            <a:avLst/>
            <a:gdLst/>
            <a:ahLst/>
            <a:cxnLst/>
            <a:rect l="l" t="t" r="r" b="b"/>
            <a:pathLst>
              <a:path w="296401" h="333375">
                <a:moveTo>
                  <a:pt x="0" y="0"/>
                </a:moveTo>
                <a:lnTo>
                  <a:pt x="296401" y="0"/>
                </a:lnTo>
                <a:lnTo>
                  <a:pt x="296401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8" name="Group 8"/>
          <p:cNvGrpSpPr/>
          <p:nvPr/>
        </p:nvGrpSpPr>
        <p:grpSpPr>
          <a:xfrm>
            <a:off x="0" y="9691304"/>
            <a:ext cx="669721" cy="595696"/>
            <a:chOff x="0" y="0"/>
            <a:chExt cx="176387" cy="1568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618279" y="9691304"/>
            <a:ext cx="669721" cy="595696"/>
            <a:chOff x="0" y="0"/>
            <a:chExt cx="176387" cy="1568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734434" y="1859194"/>
            <a:ext cx="5432131" cy="98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22"/>
              </a:lnSpc>
            </a:pPr>
            <a:r>
              <a:rPr lang="en-US" sz="705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CONCLUSION 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67253" y="3306901"/>
            <a:ext cx="8322949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PRIORITÉ P1 – SÉCURISER GAMMA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0527" y="491466"/>
            <a:ext cx="1748507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M1_SECURITY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09443" y="491466"/>
            <a:ext cx="716120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66565" y="491466"/>
            <a:ext cx="1478120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ABOUT US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978060" y="491466"/>
            <a:ext cx="1478120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SERVIVCES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047751" y="491466"/>
            <a:ext cx="1478120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PHOTOS</a:t>
            </a:r>
          </a:p>
        </p:txBody>
      </p:sp>
      <p:sp>
        <p:nvSpPr>
          <p:cNvPr id="21" name="TextBox 21"/>
          <p:cNvSpPr txBox="1"/>
          <p:nvPr/>
        </p:nvSpPr>
        <p:spPr>
          <a:xfrm rot="5400000">
            <a:off x="17491986" y="9061660"/>
            <a:ext cx="912765" cy="19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PAGE 09</a:t>
            </a:r>
          </a:p>
        </p:txBody>
      </p: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2909409" y="6251852"/>
            <a:ext cx="2449368" cy="2449368"/>
            <a:chOff x="0" y="0"/>
            <a:chExt cx="14840029" cy="14840029"/>
          </a:xfrm>
        </p:grpSpPr>
        <p:sp>
          <p:nvSpPr>
            <p:cNvPr id="23" name="Freeform 23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100000"/>
                  </a:srgbClr>
                </a:gs>
                <a:gs pos="100000">
                  <a:srgbClr val="E9E9EA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7"/>
              <a:stretch>
                <a:fillRect l="-28543" r="-28543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6196996" y="6251852"/>
            <a:ext cx="2449368" cy="2449368"/>
            <a:chOff x="0" y="0"/>
            <a:chExt cx="14840029" cy="14840029"/>
          </a:xfrm>
        </p:grpSpPr>
        <p:sp>
          <p:nvSpPr>
            <p:cNvPr id="27" name="Freeform 2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100000"/>
                  </a:srgbClr>
                </a:gs>
                <a:gs pos="100000">
                  <a:srgbClr val="E9E9EA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8"/>
              <a:stretch>
                <a:fillRect l="-24712" r="-2471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9484564" y="6251852"/>
            <a:ext cx="2449368" cy="2449368"/>
            <a:chOff x="0" y="0"/>
            <a:chExt cx="14840029" cy="14840029"/>
          </a:xfrm>
        </p:grpSpPr>
        <p:sp>
          <p:nvSpPr>
            <p:cNvPr id="31" name="Freeform 31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100000"/>
                  </a:srgbClr>
                </a:gs>
                <a:gs pos="100000">
                  <a:srgbClr val="E9E9EA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9"/>
              <a:stretch>
                <a:fillRect l="-38492" r="-3849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12772151" y="6251852"/>
            <a:ext cx="2449368" cy="2449368"/>
            <a:chOff x="0" y="0"/>
            <a:chExt cx="14840029" cy="14840029"/>
          </a:xfrm>
        </p:grpSpPr>
        <p:sp>
          <p:nvSpPr>
            <p:cNvPr id="35" name="Freeform 35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100000"/>
                  </a:srgbClr>
                </a:gs>
                <a:gs pos="100000">
                  <a:srgbClr val="E9E9EA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10"/>
              <a:stretch>
                <a:fillRect l="-38492" r="-3849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6556922" y="9022302"/>
            <a:ext cx="5174156" cy="471997"/>
          </a:xfrm>
          <a:custGeom>
            <a:avLst/>
            <a:gdLst/>
            <a:ahLst/>
            <a:cxnLst/>
            <a:rect l="l" t="t" r="r" b="b"/>
            <a:pathLst>
              <a:path w="5174156" h="471997">
                <a:moveTo>
                  <a:pt x="0" y="0"/>
                </a:moveTo>
                <a:lnTo>
                  <a:pt x="5174156" y="0"/>
                </a:lnTo>
                <a:lnTo>
                  <a:pt x="5174156" y="471996"/>
                </a:lnTo>
                <a:lnTo>
                  <a:pt x="0" y="47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732299" y="415951"/>
            <a:ext cx="296401" cy="333375"/>
          </a:xfrm>
          <a:custGeom>
            <a:avLst/>
            <a:gdLst/>
            <a:ahLst/>
            <a:cxnLst/>
            <a:rect l="l" t="t" r="r" b="b"/>
            <a:pathLst>
              <a:path w="296401" h="333375">
                <a:moveTo>
                  <a:pt x="0" y="0"/>
                </a:moveTo>
                <a:lnTo>
                  <a:pt x="296401" y="0"/>
                </a:lnTo>
                <a:lnTo>
                  <a:pt x="296401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4863016" y="3932704"/>
            <a:ext cx="9269319" cy="192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MERCI POUR VOTRE ATTENTION !  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0527" y="491466"/>
            <a:ext cx="1748507" cy="19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M1_SECURITY</a:t>
            </a:r>
          </a:p>
        </p:txBody>
      </p:sp>
      <p:sp>
        <p:nvSpPr>
          <p:cNvPr id="15" name="TextBox 15"/>
          <p:cNvSpPr txBox="1"/>
          <p:nvPr/>
        </p:nvSpPr>
        <p:spPr>
          <a:xfrm rot="5400000">
            <a:off x="17491986" y="9061660"/>
            <a:ext cx="912765" cy="19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spcBef>
                <a:spcPct val="0"/>
              </a:spcBef>
            </a:pPr>
            <a:r>
              <a:rPr lang="en-US" sz="1339">
                <a:solidFill>
                  <a:srgbClr val="FFFFFF"/>
                </a:solidFill>
                <a:latin typeface="Hero"/>
                <a:ea typeface="Hero"/>
                <a:cs typeface="Hero"/>
                <a:sym typeface="Hero"/>
              </a:rPr>
              <a:t>PAGE 10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7618279" y="9691304"/>
            <a:ext cx="669721" cy="595696"/>
            <a:chOff x="0" y="0"/>
            <a:chExt cx="176387" cy="1568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6387" cy="156891"/>
            </a:xfrm>
            <a:custGeom>
              <a:avLst/>
              <a:gdLst/>
              <a:ahLst/>
              <a:cxnLst/>
              <a:rect l="l" t="t" r="r" b="b"/>
              <a:pathLst>
                <a:path w="176387" h="156891">
                  <a:moveTo>
                    <a:pt x="0" y="0"/>
                  </a:moveTo>
                  <a:lnTo>
                    <a:pt x="176387" y="0"/>
                  </a:lnTo>
                  <a:lnTo>
                    <a:pt x="176387" y="156891"/>
                  </a:lnTo>
                  <a:lnTo>
                    <a:pt x="0" y="156891"/>
                  </a:lnTo>
                  <a:close/>
                </a:path>
              </a:pathLst>
            </a:custGeom>
            <a:gradFill rotWithShape="1">
              <a:gsLst>
                <a:gs pos="0">
                  <a:srgbClr val="092846">
                    <a:alpha val="34000"/>
                  </a:srgbClr>
                </a:gs>
                <a:gs pos="100000">
                  <a:srgbClr val="E9E9EA">
                    <a:alpha val="34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176387" cy="147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47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114800" y="7449894"/>
            <a:ext cx="9269319" cy="124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0" lvl="2" algn="ctr">
              <a:lnSpc>
                <a:spcPts val="3240"/>
              </a:lnSpc>
            </a:pPr>
            <a:r>
              <a:rPr lang="en-US" sz="30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NE STRESSEZ PAS, LA SÉCURITÉ, C’EST FACILE… TANT QU’ON MAJ OUTLOOK ! 🔐</a:t>
            </a:r>
          </a:p>
          <a:p>
            <a:pPr algn="ctr">
              <a:lnSpc>
                <a:spcPts val="3240"/>
              </a:lnSpc>
            </a:pPr>
            <a:endParaRPr lang="en-US" sz="3000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Personnalisé</PresentationFormat>
  <Paragraphs>71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Hero</vt:lpstr>
      <vt:lpstr>Calibri</vt:lpstr>
      <vt:lpstr>Arial</vt:lpstr>
      <vt:lpstr>Anton</vt:lpstr>
      <vt:lpstr>Raleway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Navy Modern Computer Security Threats Presentation</dc:title>
  <dc:creator>Yasmina .</dc:creator>
  <cp:lastModifiedBy>Yasmina Farid</cp:lastModifiedBy>
  <cp:revision>8</cp:revision>
  <dcterms:created xsi:type="dcterms:W3CDTF">2006-08-16T00:00:00Z</dcterms:created>
  <dcterms:modified xsi:type="dcterms:W3CDTF">2024-12-18T12:22:45Z</dcterms:modified>
  <dc:identifier>DAGZocmxfqE</dc:identifier>
</cp:coreProperties>
</file>